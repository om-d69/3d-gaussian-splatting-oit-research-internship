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3" r:id="rId5"/>
    <p:sldId id="275" r:id="rId6"/>
    <p:sldId id="277" r:id="rId7"/>
    <p:sldId id="280" r:id="rId8"/>
    <p:sldId id="284" r:id="rId9"/>
    <p:sldId id="281" r:id="rId10"/>
    <p:sldId id="282" r:id="rId11"/>
    <p:sldId id="278" r:id="rId12"/>
    <p:sldId id="274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6327"/>
  </p:normalViewPr>
  <p:slideViewPr>
    <p:cSldViewPr snapToGrid="0">
      <p:cViewPr varScale="1">
        <p:scale>
          <a:sx n="89" d="100"/>
          <a:sy n="89" d="100"/>
        </p:scale>
        <p:origin x="84" y="147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12/23/2025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55" y="1085447"/>
            <a:ext cx="64008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PROGRESS REPORT</a:t>
            </a:r>
            <a:br>
              <a:rPr lang="en-US" dirty="0"/>
            </a:br>
            <a:r>
              <a:rPr lang="ja-JP" altLang="en-US" dirty="0"/>
              <a:t>進捗報告</a:t>
            </a: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Om Deshpande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21" y="1021977"/>
            <a:ext cx="7498080" cy="704088"/>
          </a:xfrm>
        </p:spPr>
        <p:txBody>
          <a:bodyPr/>
          <a:lstStyle/>
          <a:p>
            <a:r>
              <a:rPr lang="en-US" dirty="0"/>
              <a:t>Goal/objective:</a:t>
            </a:r>
            <a:br>
              <a:rPr lang="en-US" dirty="0"/>
            </a:br>
            <a:r>
              <a:rPr lang="ja-JP" altLang="en-US" dirty="0"/>
              <a:t>目標</a:t>
            </a:r>
            <a:r>
              <a:rPr lang="en-US" altLang="ja-JP" dirty="0"/>
              <a:t>/</a:t>
            </a:r>
            <a:r>
              <a:rPr lang="ja-JP" altLang="en-US" dirty="0"/>
              <a:t>目的</a:t>
            </a:r>
            <a:r>
              <a:rPr lang="en-US" altLang="ja-JP" dirty="0"/>
              <a:t>: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490" y="2710926"/>
            <a:ext cx="10987321" cy="42923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Setting up 3D Gaussian Pipeline and successfully reconstructing a scene from the images, validate training on sample datasets and then transition to my own DSLR captured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Final objective is to run higher quality training on the lab’s higher VRAM PC and present results using an interactive viewer and videos.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/>
              <a:t>3D</a:t>
            </a:r>
            <a:r>
              <a:rPr lang="ja-JP" altLang="en-US" dirty="0"/>
              <a:t>ガウスパイプラインを設定し、画像からシーンを再構築し、サンプルデータセットでトレーニングを検証した後、自分の</a:t>
            </a:r>
            <a:r>
              <a:rPr lang="en-US" altLang="ja-JP" dirty="0"/>
              <a:t>DSLR</a:t>
            </a:r>
            <a:r>
              <a:rPr lang="ja-JP" altLang="en-US" dirty="0"/>
              <a:t>で撮影した画像に移行しました。</a:t>
            </a: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/>
              <a:t>最終目標は、ラボの高</a:t>
            </a:r>
            <a:r>
              <a:rPr lang="en-US" altLang="ja-JP" dirty="0"/>
              <a:t>VRAM PC</a:t>
            </a:r>
            <a:r>
              <a:rPr lang="ja-JP" altLang="en-US" dirty="0"/>
              <a:t>でより高品質なトレーニングを実行し、インタラクティブなビューアとビデオを使用して結果を提示することです。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Setup and environment preparation:</a:t>
            </a:r>
            <a:br>
              <a:rPr lang="en-US" sz="2800" dirty="0"/>
            </a:br>
            <a:r>
              <a:rPr lang="ja-JP" altLang="en-US" sz="2800" dirty="0"/>
              <a:t>セットアップと環境の準備</a:t>
            </a:r>
            <a:r>
              <a:rPr lang="en-US" altLang="ja-JP" sz="2800" dirty="0"/>
              <a:t>:</a:t>
            </a:r>
            <a:endParaRPr lang="en-US" sz="28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2963" y="2738993"/>
            <a:ext cx="4234748" cy="575320"/>
          </a:xfrm>
        </p:spPr>
        <p:txBody>
          <a:bodyPr/>
          <a:lstStyle/>
          <a:p>
            <a:r>
              <a:rPr lang="en-US" dirty="0"/>
              <a:t>Repositories/references used: </a:t>
            </a:r>
            <a:r>
              <a:rPr lang="ja-JP" altLang="en-US" dirty="0"/>
              <a:t>使用したリポジトリ</a:t>
            </a:r>
            <a:r>
              <a:rPr lang="en-US" altLang="ja-JP" dirty="0"/>
              <a:t>/</a:t>
            </a:r>
            <a:r>
              <a:rPr lang="ja-JP" altLang="en-US" dirty="0"/>
              <a:t>参考文献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1304" y="2781384"/>
            <a:ext cx="6005993" cy="490538"/>
          </a:xfrm>
        </p:spPr>
        <p:txBody>
          <a:bodyPr/>
          <a:lstStyle/>
          <a:p>
            <a:r>
              <a:rPr lang="en-US" dirty="0"/>
              <a:t>Software/Tools installed:</a:t>
            </a:r>
          </a:p>
          <a:p>
            <a:r>
              <a:rPr lang="ja-JP" altLang="en-US" dirty="0"/>
              <a:t>インストールされたソフトウェア</a:t>
            </a:r>
            <a:r>
              <a:rPr lang="en-US" altLang="ja-JP" dirty="0"/>
              <a:t>/</a:t>
            </a:r>
            <a:r>
              <a:rPr lang="ja-JP" altLang="en-US" dirty="0"/>
              <a:t>ツール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2963" y="3853389"/>
            <a:ext cx="4837715" cy="1595359"/>
          </a:xfrm>
        </p:spPr>
        <p:txBody>
          <a:bodyPr/>
          <a:lstStyle/>
          <a:p>
            <a:r>
              <a:rPr lang="en-US" dirty="0"/>
              <a:t>Official </a:t>
            </a:r>
            <a:r>
              <a:rPr lang="en-US" dirty="0" err="1"/>
              <a:t>Inria</a:t>
            </a:r>
            <a:r>
              <a:rPr lang="en-US" dirty="0"/>
              <a:t> Gaussian Splatting Repository (github.com/</a:t>
            </a:r>
            <a:r>
              <a:rPr lang="en-US" dirty="0" err="1"/>
              <a:t>graphdeco-inria</a:t>
            </a:r>
            <a:r>
              <a:rPr lang="en-US" dirty="0"/>
              <a:t>/gaussian-splatting)</a:t>
            </a:r>
          </a:p>
          <a:p>
            <a:r>
              <a:rPr lang="en-US" dirty="0"/>
              <a:t>Windows setup reference repository</a:t>
            </a:r>
            <a:br>
              <a:rPr lang="en-US" dirty="0"/>
            </a:br>
            <a:r>
              <a:rPr lang="en-US" dirty="0"/>
              <a:t>(jonstephens85/gaussian-splatting-Windows)	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09177" y="3649794"/>
            <a:ext cx="5209927" cy="2002548"/>
          </a:xfrm>
        </p:spPr>
        <p:txBody>
          <a:bodyPr/>
          <a:lstStyle/>
          <a:p>
            <a:r>
              <a:rPr lang="en-US" dirty="0" err="1"/>
              <a:t>Miniconda</a:t>
            </a:r>
            <a:r>
              <a:rPr lang="en-US" dirty="0"/>
              <a:t>/Conda</a:t>
            </a:r>
          </a:p>
          <a:p>
            <a:r>
              <a:rPr lang="en-US" dirty="0" err="1"/>
              <a:t>PyTorch+CUDA+NVIDIA</a:t>
            </a:r>
            <a:r>
              <a:rPr lang="en-US" dirty="0"/>
              <a:t> drivers</a:t>
            </a:r>
          </a:p>
          <a:p>
            <a:r>
              <a:rPr lang="en-US" dirty="0"/>
              <a:t>Visual Studio Build Tools (C++ toolchain)</a:t>
            </a:r>
          </a:p>
          <a:p>
            <a:r>
              <a:rPr lang="en-US" dirty="0"/>
              <a:t>COLMAP</a:t>
            </a:r>
          </a:p>
          <a:p>
            <a:r>
              <a:rPr lang="en-US" dirty="0"/>
              <a:t>MeshLab</a:t>
            </a:r>
          </a:p>
          <a:p>
            <a:r>
              <a:rPr lang="en-US" dirty="0" err="1"/>
              <a:t>Ffmpeg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6" y="301752"/>
            <a:ext cx="3076149" cy="2027279"/>
          </a:xfrm>
        </p:spPr>
        <p:txBody>
          <a:bodyPr/>
          <a:lstStyle/>
          <a:p>
            <a:r>
              <a:rPr lang="en-US" sz="3600" dirty="0"/>
              <a:t>MAJOR DEBUGGING AND ISSUES RESOLVED</a:t>
            </a:r>
            <a:br>
              <a:rPr lang="en-US" sz="3600" dirty="0"/>
            </a:br>
            <a:r>
              <a:rPr lang="ja-JP" altLang="en-US" sz="3600" dirty="0"/>
              <a:t>デバッグと解決済みの問題</a:t>
            </a:r>
            <a:endParaRPr lang="en-US" sz="36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21271" y="6500846"/>
            <a:ext cx="1828800" cy="2743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4263" y="-42745"/>
            <a:ext cx="7234518" cy="638461"/>
          </a:xfrm>
        </p:spPr>
        <p:txBody>
          <a:bodyPr/>
          <a:lstStyle/>
          <a:p>
            <a:r>
              <a:rPr lang="en-US" sz="1800" u="sng" dirty="0"/>
              <a:t>Conda not recognized/environment activation issues</a:t>
            </a:r>
          </a:p>
          <a:p>
            <a:r>
              <a:rPr lang="en-US" altLang="ja-JP" sz="1800" u="sng" dirty="0"/>
              <a:t>Conda </a:t>
            </a:r>
            <a:r>
              <a:rPr lang="ja-JP" altLang="en-US" sz="1800" u="sng" dirty="0"/>
              <a:t>が認識されない</a:t>
            </a:r>
            <a:r>
              <a:rPr lang="en-US" altLang="ja-JP" sz="1800" u="sng" dirty="0"/>
              <a:t>/</a:t>
            </a:r>
            <a:r>
              <a:rPr lang="ja-JP" altLang="en-US" sz="1800" u="sng" dirty="0"/>
              <a:t>環境のアクティベーションの問題</a:t>
            </a:r>
            <a:endParaRPr lang="en-US" sz="1800" u="s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98202" y="807347"/>
            <a:ext cx="6573998" cy="1798927"/>
          </a:xfrm>
        </p:spPr>
        <p:txBody>
          <a:bodyPr/>
          <a:lstStyle/>
          <a:p>
            <a:r>
              <a:rPr lang="en-US" sz="1400" dirty="0"/>
              <a:t>Initially Conda was not fixed in the terminal, fixed by installing </a:t>
            </a:r>
            <a:r>
              <a:rPr lang="en-US" sz="1400" dirty="0" err="1"/>
              <a:t>miniconda</a:t>
            </a:r>
            <a:r>
              <a:rPr lang="en-US" sz="1400" dirty="0"/>
              <a:t> properly and using the correct environment.</a:t>
            </a:r>
          </a:p>
          <a:p>
            <a:r>
              <a:rPr lang="ja-JP" altLang="en-US" sz="1400" dirty="0"/>
              <a:t>当初、</a:t>
            </a:r>
            <a:r>
              <a:rPr lang="en-US" altLang="ja-JP" sz="1400" dirty="0"/>
              <a:t>Conda </a:t>
            </a:r>
            <a:r>
              <a:rPr lang="ja-JP" altLang="en-US" sz="1400" dirty="0"/>
              <a:t>はターミナルで修正されていませんでしたが、</a:t>
            </a:r>
            <a:r>
              <a:rPr lang="en-US" altLang="ja-JP" sz="1400" dirty="0" err="1"/>
              <a:t>miniconda</a:t>
            </a:r>
            <a:r>
              <a:rPr lang="en-US" altLang="ja-JP" sz="1400" dirty="0"/>
              <a:t> </a:t>
            </a:r>
            <a:r>
              <a:rPr lang="ja-JP" altLang="en-US" sz="1400" dirty="0"/>
              <a:t>を適切にインストールし、正しい環境を使用することで修正されました。</a:t>
            </a:r>
            <a:endParaRPr lang="en-US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4205" y="2083762"/>
            <a:ext cx="7334567" cy="490538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mismatch/</a:t>
            </a:r>
            <a:r>
              <a:rPr lang="en-US" dirty="0" err="1"/>
              <a:t>extention</a:t>
            </a:r>
            <a:r>
              <a:rPr lang="en-US" dirty="0"/>
              <a:t> build features</a:t>
            </a:r>
          </a:p>
          <a:p>
            <a:r>
              <a:rPr lang="en-US" altLang="ja-JP" dirty="0" err="1"/>
              <a:t>PyTorch</a:t>
            </a:r>
            <a:r>
              <a:rPr lang="en-US" altLang="ja-JP" dirty="0"/>
              <a:t> </a:t>
            </a:r>
            <a:r>
              <a:rPr lang="ja-JP" altLang="en-US" dirty="0"/>
              <a:t>の不一致</a:t>
            </a:r>
            <a:r>
              <a:rPr lang="en-US" altLang="ja-JP" dirty="0"/>
              <a:t>/</a:t>
            </a:r>
            <a:r>
              <a:rPr lang="ja-JP" altLang="en-US" dirty="0"/>
              <a:t>拡張ビルド機能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6094" y="2705549"/>
            <a:ext cx="7022593" cy="1667068"/>
          </a:xfrm>
        </p:spPr>
        <p:txBody>
          <a:bodyPr/>
          <a:lstStyle/>
          <a:p>
            <a:r>
              <a:rPr lang="en-US" dirty="0"/>
              <a:t>While installing required CUDA extensions, build failed due to missing build dependencies and </a:t>
            </a:r>
            <a:r>
              <a:rPr lang="en-US" dirty="0" err="1"/>
              <a:t>PyTorch</a:t>
            </a:r>
            <a:r>
              <a:rPr lang="en-US" dirty="0"/>
              <a:t> being unavailable in an isolated build process</a:t>
            </a:r>
          </a:p>
          <a:p>
            <a:r>
              <a:rPr lang="en-US" dirty="0"/>
              <a:t>Resolved by ensuring </a:t>
            </a:r>
            <a:r>
              <a:rPr lang="en-US" dirty="0" err="1"/>
              <a:t>PyTorch</a:t>
            </a:r>
            <a:r>
              <a:rPr lang="en-US" dirty="0"/>
              <a:t> was installed in the </a:t>
            </a:r>
            <a:r>
              <a:rPr lang="en-US" dirty="0" err="1"/>
              <a:t>conda</a:t>
            </a:r>
            <a:r>
              <a:rPr lang="en-US" dirty="0"/>
              <a:t> environment first, then rebuilding/installing modules.</a:t>
            </a:r>
          </a:p>
          <a:p>
            <a:r>
              <a:rPr lang="ja-JP" altLang="en-US" dirty="0"/>
              <a:t>必要な </a:t>
            </a:r>
            <a:r>
              <a:rPr lang="en-US" altLang="ja-JP" dirty="0"/>
              <a:t>CUDA </a:t>
            </a:r>
            <a:r>
              <a:rPr lang="ja-JP" altLang="en-US" dirty="0"/>
              <a:t>拡張機能をインストールしているときに、ビルド依存関係が不足しており、分離されたビルドプロセスで </a:t>
            </a:r>
            <a:r>
              <a:rPr lang="en-US" altLang="ja-JP" dirty="0" err="1"/>
              <a:t>PyTorch</a:t>
            </a:r>
            <a:r>
              <a:rPr lang="en-US" altLang="ja-JP" dirty="0"/>
              <a:t> </a:t>
            </a:r>
            <a:r>
              <a:rPr lang="ja-JP" altLang="en-US" dirty="0"/>
              <a:t>が利用できないためにビルドに失敗しました。</a:t>
            </a:r>
          </a:p>
          <a:p>
            <a:r>
              <a:rPr lang="ja-JP" altLang="en-US" dirty="0"/>
              <a:t>まず、</a:t>
            </a:r>
            <a:r>
              <a:rPr lang="en-US" altLang="ja-JP" dirty="0" err="1"/>
              <a:t>conda</a:t>
            </a:r>
            <a:r>
              <a:rPr lang="en-US" altLang="ja-JP" dirty="0"/>
              <a:t> </a:t>
            </a:r>
            <a:r>
              <a:rPr lang="ja-JP" altLang="en-US" dirty="0"/>
              <a:t>環境に </a:t>
            </a:r>
            <a:r>
              <a:rPr lang="en-US" altLang="ja-JP" dirty="0" err="1"/>
              <a:t>PyTorch</a:t>
            </a:r>
            <a:r>
              <a:rPr lang="en-US" altLang="ja-JP" dirty="0"/>
              <a:t> </a:t>
            </a:r>
            <a:r>
              <a:rPr lang="ja-JP" altLang="en-US" dirty="0"/>
              <a:t>がインストールされていることを確認してから、モジュールを再構築</a:t>
            </a:r>
            <a:r>
              <a:rPr lang="en-US" altLang="ja-JP" dirty="0"/>
              <a:t>/</a:t>
            </a:r>
            <a:r>
              <a:rPr lang="ja-JP" altLang="en-US" dirty="0"/>
              <a:t>インストールすることでこの問題を解決しました。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C7318-4709-6C08-E941-5A06593FB0F3}"/>
              </a:ext>
            </a:extLst>
          </p:cNvPr>
          <p:cNvSpPr txBox="1"/>
          <p:nvPr/>
        </p:nvSpPr>
        <p:spPr>
          <a:xfrm>
            <a:off x="231289" y="3101879"/>
            <a:ext cx="4437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Camera model not supported</a:t>
            </a:r>
          </a:p>
          <a:p>
            <a:r>
              <a:rPr lang="ja-JP" altLang="en-US" b="1" u="sng" dirty="0"/>
              <a:t>カメラモデルはサポートされていません</a:t>
            </a:r>
            <a:r>
              <a:rPr lang="en-US" b="1" u="sng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2E297-AC0E-024B-8789-61C2C797D331}"/>
              </a:ext>
            </a:extLst>
          </p:cNvPr>
          <p:cNvSpPr txBox="1"/>
          <p:nvPr/>
        </p:nvSpPr>
        <p:spPr>
          <a:xfrm>
            <a:off x="0" y="3748210"/>
            <a:ext cx="529814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 error: “Only undistorted datasets (PINHOLE or SIMPLE_PINHOLE) supported.”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Fixed by running COLMAP </a:t>
            </a:r>
            <a:r>
              <a:rPr lang="en-US" sz="1600" dirty="0" err="1"/>
              <a:t>image_undistorter</a:t>
            </a:r>
            <a:r>
              <a:rPr lang="en-US" sz="1600" dirty="0"/>
              <a:t> and training from the undistorted output directory, creating a “dense” folder that included “images/sparse/0”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トレーニング エラー</a:t>
            </a:r>
            <a:r>
              <a:rPr lang="en-US" altLang="ja-JP" sz="1600" dirty="0"/>
              <a:t>:</a:t>
            </a:r>
            <a:r>
              <a:rPr lang="ja-JP" altLang="en-US" sz="1600" dirty="0"/>
              <a:t>「歪みのないデータセット </a:t>
            </a:r>
            <a:r>
              <a:rPr lang="en-US" altLang="ja-JP" sz="1600" dirty="0"/>
              <a:t>(PINHOLE </a:t>
            </a:r>
            <a:r>
              <a:rPr lang="ja-JP" altLang="en-US" sz="1600" dirty="0"/>
              <a:t>または </a:t>
            </a:r>
            <a:r>
              <a:rPr lang="en-US" altLang="ja-JP" sz="1600" dirty="0"/>
              <a:t>SIMPLE_PINHOLE) </a:t>
            </a:r>
            <a:r>
              <a:rPr lang="ja-JP" altLang="en-US" sz="1600" dirty="0"/>
              <a:t>のみがサポートされています。」</a:t>
            </a:r>
            <a:endParaRPr lang="en-US" altLang="ja-JP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/>
              <a:t>COLMAP </a:t>
            </a:r>
            <a:r>
              <a:rPr lang="en-US" altLang="ja-JP" sz="1600" dirty="0" err="1"/>
              <a:t>image_undistorter</a:t>
            </a:r>
            <a:r>
              <a:rPr lang="ja-JP" altLang="en-US" sz="1600" dirty="0"/>
              <a:t>を実行し、歪みのない出力ディレクトリからトレーニングすることで修正され、「</a:t>
            </a:r>
            <a:r>
              <a:rPr lang="en-US" altLang="ja-JP" sz="1600" dirty="0"/>
              <a:t>images/sparse/0</a:t>
            </a:r>
            <a:r>
              <a:rPr lang="ja-JP" altLang="en-US" sz="1600" dirty="0"/>
              <a:t>」を含む「</a:t>
            </a:r>
            <a:r>
              <a:rPr lang="en-US" altLang="ja-JP" sz="1600" dirty="0"/>
              <a:t>dense</a:t>
            </a:r>
            <a:r>
              <a:rPr lang="ja-JP" altLang="en-US" sz="1600" dirty="0"/>
              <a:t>」フォルダが作成されました。</a:t>
            </a:r>
            <a:endParaRPr lang="en-US" altLang="ja-JP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5FDD12-B7C8-ED26-BD7E-D673AD18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63979" y="6583680"/>
            <a:ext cx="1828800" cy="274320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AF81A-D984-97AB-AE1F-B384A55C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3DA054-AECE-A329-017A-D89F53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46766" cy="3743123"/>
          </a:xfrm>
        </p:spPr>
        <p:txBody>
          <a:bodyPr/>
          <a:lstStyle/>
          <a:p>
            <a:r>
              <a:rPr lang="en-US" sz="4000" dirty="0"/>
              <a:t>MAJOR DEBUGGING AND ISSUES RESOLVED</a:t>
            </a:r>
            <a:br>
              <a:rPr lang="en-US" sz="4000" dirty="0"/>
            </a:br>
            <a:r>
              <a:rPr lang="ja-JP" altLang="en-US" sz="4000" dirty="0"/>
              <a:t>デバッグと解決済みの問題</a:t>
            </a:r>
            <a:endParaRPr lang="en-AE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40CFD-44C4-1546-16A3-8AC7BCC2CE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2994" y="193642"/>
            <a:ext cx="4828032" cy="919773"/>
          </a:xfrm>
        </p:spPr>
        <p:txBody>
          <a:bodyPr/>
          <a:lstStyle/>
          <a:p>
            <a:r>
              <a:rPr lang="en-US" dirty="0"/>
              <a:t>COLMAP option mismatch</a:t>
            </a:r>
          </a:p>
          <a:p>
            <a:r>
              <a:rPr lang="en-US" altLang="ja-JP" dirty="0"/>
              <a:t>COLMAP</a:t>
            </a:r>
            <a:r>
              <a:rPr lang="ja-JP" altLang="en-US" dirty="0"/>
              <a:t>オプションの不一致</a:t>
            </a:r>
            <a:br>
              <a:rPr lang="en-US" dirty="0"/>
            </a:br>
            <a:endParaRPr lang="en-US" dirty="0"/>
          </a:p>
          <a:p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8FD1BE-973E-D5F1-EA99-AEDC3B56D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8873" y="3497854"/>
            <a:ext cx="6927386" cy="490538"/>
          </a:xfrm>
        </p:spPr>
        <p:txBody>
          <a:bodyPr/>
          <a:lstStyle/>
          <a:p>
            <a:r>
              <a:rPr lang="en-US" dirty="0"/>
              <a:t>Dataset structure / missing sparse files</a:t>
            </a:r>
          </a:p>
          <a:p>
            <a:r>
              <a:rPr lang="ja-JP" altLang="en-US" dirty="0"/>
              <a:t>データセットの構造 </a:t>
            </a:r>
            <a:r>
              <a:rPr lang="en-US" altLang="ja-JP" dirty="0"/>
              <a:t>/ </a:t>
            </a:r>
            <a:r>
              <a:rPr lang="ja-JP" altLang="en-US" dirty="0"/>
              <a:t>欠落しているスパースファイル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7B4DDF-C868-2852-229F-C116C87FE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25341" y="1286217"/>
            <a:ext cx="7293147" cy="1682750"/>
          </a:xfrm>
        </p:spPr>
        <p:txBody>
          <a:bodyPr/>
          <a:lstStyle/>
          <a:p>
            <a:r>
              <a:rPr lang="en-US" sz="1400" dirty="0"/>
              <a:t>Errors like unrecognized option (--</a:t>
            </a:r>
            <a:r>
              <a:rPr lang="en-US" sz="1400" dirty="0" err="1"/>
              <a:t>SiftExtraction.use_gpu</a:t>
            </a:r>
            <a:r>
              <a:rPr lang="en-US" sz="1400" dirty="0"/>
              <a:t>) occurred due to changes in COLMAP CLI versions differences</a:t>
            </a:r>
          </a:p>
          <a:p>
            <a:r>
              <a:rPr lang="en-US" sz="1400" dirty="0"/>
              <a:t>Adjusted pipelines to match the correct COLMAP version</a:t>
            </a:r>
          </a:p>
          <a:p>
            <a:r>
              <a:rPr lang="en-US" altLang="ja-JP" sz="1400" dirty="0"/>
              <a:t>COLMAP CLI </a:t>
            </a:r>
            <a:r>
              <a:rPr lang="ja-JP" altLang="en-US" sz="1400" dirty="0"/>
              <a:t>バージョンの違いにより、認識されないオプション </a:t>
            </a:r>
            <a:r>
              <a:rPr lang="en-US" altLang="ja-JP" sz="1400" dirty="0"/>
              <a:t>(--</a:t>
            </a:r>
            <a:r>
              <a:rPr lang="en-US" altLang="ja-JP" sz="1400" dirty="0" err="1"/>
              <a:t>SiftExtraction.use_gpu</a:t>
            </a:r>
            <a:r>
              <a:rPr lang="en-US" altLang="ja-JP" sz="1400" dirty="0"/>
              <a:t>) </a:t>
            </a:r>
            <a:r>
              <a:rPr lang="ja-JP" altLang="en-US" sz="1400" dirty="0"/>
              <a:t>などのエラーが発生していました。</a:t>
            </a:r>
          </a:p>
          <a:p>
            <a:r>
              <a:rPr lang="ja-JP" altLang="en-US" sz="1400" dirty="0"/>
              <a:t>正しい </a:t>
            </a:r>
            <a:r>
              <a:rPr lang="en-US" altLang="ja-JP" sz="1400" dirty="0"/>
              <a:t>COLMAP </a:t>
            </a:r>
            <a:r>
              <a:rPr lang="ja-JP" altLang="en-US" sz="1400" dirty="0"/>
              <a:t>バージョンに合わせてパイプラインを調整しました。</a:t>
            </a:r>
            <a:endParaRPr lang="en-AE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BA923B-045C-8664-8EEA-8765BD8821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31" y="4485358"/>
            <a:ext cx="8218842" cy="1682750"/>
          </a:xfrm>
        </p:spPr>
        <p:txBody>
          <a:bodyPr/>
          <a:lstStyle/>
          <a:p>
            <a:r>
              <a:rPr lang="en-US" sz="1400" dirty="0"/>
              <a:t>Training failed due to incorrect folder nesting, COLMAP output existed but was inside the wrong folder name.</a:t>
            </a:r>
          </a:p>
          <a:p>
            <a:r>
              <a:rPr lang="en-US" sz="1400" dirty="0"/>
              <a:t>Fixed by copying correct sparse model and verifying presence of .bin files</a:t>
            </a:r>
          </a:p>
          <a:p>
            <a:r>
              <a:rPr lang="ja-JP" altLang="en-US" sz="1400" dirty="0"/>
              <a:t>フォルダのネストが正しくないため、トレーニングに失敗しました。</a:t>
            </a:r>
            <a:r>
              <a:rPr lang="en-US" altLang="ja-JP" sz="1400" dirty="0"/>
              <a:t>COLMAP</a:t>
            </a:r>
            <a:r>
              <a:rPr lang="ja-JP" altLang="en-US" sz="1400" dirty="0"/>
              <a:t>出力は存在していましたが、フォルダ名が間違っていました。</a:t>
            </a:r>
          </a:p>
          <a:p>
            <a:r>
              <a:rPr lang="ja-JP" altLang="en-US" sz="1400" dirty="0"/>
              <a:t>正しいスパースモデルをコピーし、</a:t>
            </a:r>
            <a:r>
              <a:rPr lang="en-US" altLang="ja-JP" sz="1400" dirty="0"/>
              <a:t>.bin</a:t>
            </a:r>
            <a:r>
              <a:rPr lang="ja-JP" altLang="en-US" sz="1400" dirty="0"/>
              <a:t>ファイルの存在を確認することで修正されました。</a:t>
            </a: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205842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215741"/>
            <a:ext cx="10515600" cy="575321"/>
          </a:xfrm>
        </p:spPr>
        <p:txBody>
          <a:bodyPr/>
          <a:lstStyle/>
          <a:p>
            <a:r>
              <a:rPr lang="en-US" sz="2800" dirty="0"/>
              <a:t>Experiments completed</a:t>
            </a:r>
            <a:br>
              <a:rPr lang="en-US" sz="2800" dirty="0"/>
            </a:br>
            <a:r>
              <a:rPr lang="ja-JP" altLang="en-US" sz="2800" dirty="0"/>
              <a:t>実験完了</a:t>
            </a:r>
            <a:br>
              <a:rPr lang="en-US" dirty="0"/>
            </a:b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935914"/>
            <a:ext cx="11408485" cy="3587675"/>
          </a:xfrm>
        </p:spPr>
        <p:txBody>
          <a:bodyPr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Successfully trained on sample datasets (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Mip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-Nerf 360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Treehill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assets, ran testing for 3000 iterations to validate pipeline, then ran 5000 iterations to improve the quality)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Captured DSLR images of a small object across three evaluation bands: eye level, slightly above and slightly below and then processed the images with COLMAP for sparse reconstruction and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undistortion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Successfully trained Gaussian Splatting on the processed datasets and generated output point clouds.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Noted quality issue: blur and shallow depth of field in images caused smeared and soft results, decided to re-capture large objects using the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dsrl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サンプルデータセット（</a:t>
            </a:r>
            <a:r>
              <a:rPr lang="en-US" altLang="ja-JP" sz="1800" dirty="0" err="1">
                <a:solidFill>
                  <a:schemeClr val="bg1">
                    <a:lumMod val="50000"/>
                  </a:schemeClr>
                </a:solidFill>
              </a:rPr>
              <a:t>Mip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-Nerf 360 </a:t>
            </a:r>
            <a:r>
              <a:rPr lang="en-US" altLang="ja-JP" sz="1800" dirty="0" err="1">
                <a:solidFill>
                  <a:schemeClr val="bg1">
                    <a:lumMod val="50000"/>
                  </a:schemeClr>
                </a:solidFill>
              </a:rPr>
              <a:t>Treehill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アセット）での学習に成功しました。パイプラインの検証のため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3000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回の反復テストを実施し、その後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5000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回の反復テストを実施して品質向上を図りました。</a:t>
            </a:r>
          </a:p>
          <a:p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小さな物体の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DSLR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画像を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つの評価バンド（目の高さ、やや上、やや下）で撮影し、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COLMAP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でスパース再構成と歪み補正を行いました。</a:t>
            </a:r>
          </a:p>
          <a:p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処理済みのデータセットでガウススプラッティングの学習に成功し、出力点群を生成しました。</a:t>
            </a:r>
          </a:p>
          <a:p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品質上の問題として、画像のぼやけと被写界深度の浅さにより、画像がぼやけてぼやけた状態になっていることが確認されました。そのため、</a:t>
            </a:r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</a:rPr>
              <a:t>DSRL</a:t>
            </a:r>
            <a:r>
              <a:rPr lang="ja-JP" altLang="en-US" sz="1800" dirty="0">
                <a:solidFill>
                  <a:schemeClr val="bg1">
                    <a:lumMod val="50000"/>
                  </a:schemeClr>
                </a:solidFill>
              </a:rPr>
              <a:t>を使用して大きな物体を再撮影することにしました。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3" y="172122"/>
            <a:ext cx="9963195" cy="704088"/>
          </a:xfrm>
        </p:spPr>
        <p:txBody>
          <a:bodyPr/>
          <a:lstStyle/>
          <a:p>
            <a:r>
              <a:rPr lang="en-US" dirty="0"/>
              <a:t>Output generation and viewer status</a:t>
            </a:r>
            <a:br>
              <a:rPr lang="en-US" dirty="0"/>
            </a:br>
            <a:r>
              <a:rPr lang="ja-JP" altLang="en-US" dirty="0"/>
              <a:t>出力生成とビューアのステータス</a:t>
            </a:r>
            <a:br>
              <a:rPr lang="en-US" dirty="0"/>
            </a:b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632183"/>
            <a:ext cx="9602276" cy="4905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Used </a:t>
            </a:r>
            <a:r>
              <a:rPr lang="en-US" b="0" dirty="0" err="1"/>
              <a:t>Ffmpeg</a:t>
            </a:r>
            <a:r>
              <a:rPr lang="en-US" b="0" dirty="0"/>
              <a:t> to convert rendered frames to smooth mp4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Attempted web viewer method but the current repo does not contain viewer.py, instead it contains </a:t>
            </a:r>
            <a:r>
              <a:rPr lang="en-US" b="0" dirty="0" err="1"/>
              <a:t>sibr</a:t>
            </a:r>
            <a:r>
              <a:rPr lang="en-US" b="0" dirty="0"/>
              <a:t> viewer so will try that in the bigger VRAM 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レンダリングされたフレームを滑らかな</a:t>
            </a:r>
            <a:r>
              <a:rPr lang="en-US" altLang="ja-JP" b="0" dirty="0"/>
              <a:t>mp4</a:t>
            </a:r>
            <a:r>
              <a:rPr lang="ja-JP" altLang="en-US" b="0" dirty="0"/>
              <a:t>ビデオに変換するために</a:t>
            </a:r>
            <a:r>
              <a:rPr lang="en-US" altLang="ja-JP" b="0" dirty="0" err="1"/>
              <a:t>ffmpeg</a:t>
            </a:r>
            <a:r>
              <a:rPr lang="ja-JP" altLang="en-US" b="0" dirty="0"/>
              <a:t>を使用しました。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b="0" dirty="0"/>
              <a:t>Web</a:t>
            </a:r>
            <a:r>
              <a:rPr lang="ja-JP" altLang="en-US" b="0" dirty="0"/>
              <a:t>ビューア方式を試しましたが、現在のリポジトリには</a:t>
            </a:r>
            <a:r>
              <a:rPr lang="en-US" altLang="ja-JP" b="0" dirty="0"/>
              <a:t>viewer.py</a:t>
            </a:r>
            <a:r>
              <a:rPr lang="ja-JP" altLang="en-US" b="0" dirty="0"/>
              <a:t>が含まれていません。代わりに</a:t>
            </a:r>
            <a:r>
              <a:rPr lang="en-US" altLang="ja-JP" b="0" dirty="0" err="1"/>
              <a:t>sibr</a:t>
            </a:r>
            <a:r>
              <a:rPr lang="ja-JP" altLang="en-US" b="0" dirty="0"/>
              <a:t>ビューアが含まれているため、</a:t>
            </a:r>
            <a:r>
              <a:rPr lang="en-US" altLang="ja-JP" b="0" dirty="0"/>
              <a:t>VRAM</a:t>
            </a:r>
            <a:r>
              <a:rPr lang="ja-JP" altLang="en-US" b="0" dirty="0"/>
              <a:t>の大きい</a:t>
            </a:r>
            <a:r>
              <a:rPr lang="en-US" altLang="ja-JP" b="0" dirty="0"/>
              <a:t>PC</a:t>
            </a:r>
            <a:r>
              <a:rPr lang="ja-JP" altLang="en-US" b="0" dirty="0"/>
              <a:t>で試してみます。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60380"/>
            <a:ext cx="4410635" cy="1031383"/>
          </a:xfrm>
        </p:spPr>
        <p:txBody>
          <a:bodyPr/>
          <a:lstStyle/>
          <a:p>
            <a:r>
              <a:rPr lang="en-US" sz="2400" b="1" dirty="0"/>
              <a:t>Next steps/PENDING WORK</a:t>
            </a:r>
            <a:br>
              <a:rPr lang="en-US" sz="2400" b="1" dirty="0"/>
            </a:br>
            <a:r>
              <a:rPr lang="ja-JP" altLang="en-US" sz="2400" b="1" dirty="0"/>
              <a:t>次のステップ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保留中の作業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600" y="1233101"/>
            <a:ext cx="12034400" cy="4905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Re-capture new dataset with larger objects and larger environment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Transfer dataset to high VRAM 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Run higher quality training (&gt;5000 iterations)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Install and use an interactive viewer (SIBR or </a:t>
            </a:r>
            <a:r>
              <a:rPr lang="en-US" b="0" dirty="0" err="1"/>
              <a:t>splatapult</a:t>
            </a:r>
            <a:r>
              <a:rPr lang="en-US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Finalize deliverables (rendered videos + interactive viewer output + MeshLab)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より大きなオブジェクトと環境を持つ新しいデータセットを再キャプチャする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データセットを高</a:t>
            </a:r>
            <a:r>
              <a:rPr lang="en-US" altLang="ja-JP" b="0" dirty="0"/>
              <a:t>VRAM PC</a:t>
            </a:r>
            <a:r>
              <a:rPr lang="ja-JP" altLang="en-US" b="0" dirty="0"/>
              <a:t>に転送する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より高品質なトレーニングを実行する（</a:t>
            </a:r>
            <a:r>
              <a:rPr lang="en-US" altLang="ja-JP" b="0" dirty="0"/>
              <a:t>5000</a:t>
            </a:r>
            <a:r>
              <a:rPr lang="ja-JP" altLang="en-US" b="0" dirty="0"/>
              <a:t>回以上の反復処理）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インタラクティブビューア（</a:t>
            </a:r>
            <a:r>
              <a:rPr lang="en-US" altLang="ja-JP" b="0" dirty="0"/>
              <a:t>SIBR</a:t>
            </a:r>
            <a:r>
              <a:rPr lang="ja-JP" altLang="en-US" b="0" dirty="0"/>
              <a:t>または</a:t>
            </a:r>
            <a:r>
              <a:rPr lang="en-US" altLang="ja-JP" b="0" dirty="0" err="1"/>
              <a:t>splatapult</a:t>
            </a:r>
            <a:r>
              <a:rPr lang="ja-JP" altLang="en-US" b="0" dirty="0"/>
              <a:t>）をインストールして使用する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b="0" dirty="0"/>
              <a:t>成果物を完成させる（レンダリングされた動画 </a:t>
            </a:r>
            <a:r>
              <a:rPr lang="en-US" altLang="ja-JP" b="0" dirty="0"/>
              <a:t>+ </a:t>
            </a:r>
            <a:r>
              <a:rPr lang="ja-JP" altLang="en-US" b="0" dirty="0"/>
              <a:t>インタラクティブビューアの出力 </a:t>
            </a:r>
            <a:r>
              <a:rPr lang="en-US" altLang="ja-JP" b="0" dirty="0"/>
              <a:t>+ MeshLab</a:t>
            </a:r>
            <a:r>
              <a:rPr lang="ja-JP" altLang="en-US" b="0" dirty="0"/>
              <a:t>）</a:t>
            </a:r>
            <a:endParaRPr lang="en-US" b="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3758</TotalTime>
  <Words>1901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PROGRESS REPORT 進捗報告</vt:lpstr>
      <vt:lpstr>Goal/objective: 目標/目的:</vt:lpstr>
      <vt:lpstr>Setup and environment preparation: セットアップと環境の準備:</vt:lpstr>
      <vt:lpstr>MAJOR DEBUGGING AND ISSUES RESOLVED デバッグと解決済みの問題</vt:lpstr>
      <vt:lpstr>MAJOR DEBUGGING AND ISSUES RESOLVED デバッグと解決済みの問題</vt:lpstr>
      <vt:lpstr>Experiments completed 実験完了 </vt:lpstr>
      <vt:lpstr>Output generation and viewer status 出力生成とビューアのステータス </vt:lpstr>
      <vt:lpstr>Next steps/PENDING WORK 次のステップ/保留中の作業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Deshpande</dc:creator>
  <cp:lastModifiedBy>Om Deshpande</cp:lastModifiedBy>
  <cp:revision>1</cp:revision>
  <dcterms:created xsi:type="dcterms:W3CDTF">2025-12-23T06:23:11Z</dcterms:created>
  <dcterms:modified xsi:type="dcterms:W3CDTF">2025-12-25T21:01:37Z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